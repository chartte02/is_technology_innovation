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6800" b="1">
                <a:solidFill>
                  <a:srgbClr val="007AFF"/>
                </a:solidFill>
              </a:defRPr>
            </a:pPr>
            <a:r>
              <a:t>NADS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</a:defRPr>
            </a:pPr>
            <a:r>
              <a:t>Network Attack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86868B"/>
                </a:solidFill>
              </a:defRPr>
            </a:pPr>
            <a:r>
              <a:t>基于混合检测架构（误用检测 + 异常检测）的入侵检测系统</a:t>
            </a:r>
          </a:p>
          <a:p>
            <a:pPr>
              <a:spcAft>
                <a:spcPts val="300"/>
              </a:spcAft>
              <a:defRPr sz="1600" b="0">
                <a:solidFill>
                  <a:srgbClr val="86868B"/>
                </a:solidFill>
              </a:defRPr>
            </a:pPr>
            <a:r>
              <a:t>信息安全科技创新  |  2026年7月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C7C7CC"/>
                </a:solidFill>
              </a:defRPr>
            </a:pPr>
            <a:r>
              <a:rPr dirty="0"/>
              <a:t>8核心模块 + 2拓展引擎 | 136条检测规则 | 12种协议识别 | 7种异常检测器</a:t>
            </a:r>
          </a:p>
          <a:p>
            <a:pPr>
              <a:spcAft>
                <a:spcPts val="300"/>
              </a:spcAft>
              <a:defRPr sz="1500" b="0">
                <a:solidFill>
                  <a:srgbClr val="C7C7CC"/>
                </a:solidFill>
              </a:defRPr>
            </a:pPr>
            <a:r>
              <a:rPr dirty="0"/>
              <a:t>| 准确率96% | 误报率1.72% |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目录 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642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五层管道架构 + 数据流 + 模块间接口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误用检测引擎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414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AC自动机 + 136条规则 + 三阶段匹配流水线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加密流量检测 (PDF必做1)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186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JA3/JA4指纹 + 证书异常 + C2 Beacon CV检测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异常检测 + ML (PDF必做2)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95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7种检测器 + Isolation Forest + 两阶段精判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攻击链+威胁情报 (PDF必做3+4)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73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MITRE ATT&amp;CK 7阶段串联 + AbuseIPDB/OTX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GUI + 性能评估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5504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6-Tab界面 + 攻击链可视化 + 准确率96%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035040"/>
            <a:ext cx="640080" cy="50292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混合检测验证 + 特色创新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3276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6868B"/>
                </a:solidFill>
              </a:defRPr>
            </a:pPr>
            <a:r>
              <a:t>双引擎互印证 + 真实流量 + 6大特色方向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系统架构 — 五层管道设计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743200" cy="86868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Layer 1: 数据采集 (B)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PacketCapture | Scapy+Npcap | BPF+PCAP回放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28800" y="2075688"/>
            <a:ext cx="228600" cy="13716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743200" cy="868680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Layer 2: 协议解析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31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ProtocolParser + TCPReassembler + TLSDetector + C2BeaconDetector | 12种协议 + TCP严格重组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8800" y="3127248"/>
            <a:ext cx="228600" cy="137160"/>
          </a:xfrm>
          <a:prstGeom prst="rightArrow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291839"/>
            <a:ext cx="2743200" cy="86868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Layer 3: 检测引擎 (A+C)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832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MisuseDetector(AC+136规则) + AnomalyDetector(7检测器) + MLAnomalyDetector + AttackChainAnalyzer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28800" y="4178807"/>
            <a:ext cx="228600" cy="137160"/>
          </a:xfrm>
          <a:prstGeom prst="rightArrow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2743200" cy="86868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Layer 4: 告警管理 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434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AlertManager | 去重+分级+统计+JSON | ThreatIntel字段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28800" y="5230368"/>
            <a:ext cx="228600" cy="137160"/>
          </a:xfrm>
          <a:prstGeom prst="rightArrow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5394959"/>
            <a:ext cx="2743200" cy="86868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Layer 5: 用户界面 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486399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 err="1"/>
              <a:t>IDSMainWindow</a:t>
            </a:r>
            <a:r>
              <a:rPr dirty="0"/>
              <a:t>(PyQt5) | Dashboard/Alerts/Stats/Signatures/</a:t>
            </a:r>
            <a:r>
              <a:rPr dirty="0" err="1"/>
              <a:t>AttackChain</a:t>
            </a:r>
            <a:r>
              <a:rPr dirty="0"/>
              <a:t>/Log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71600"/>
            <a:ext cx="2926080" cy="41148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8个核心模块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874519"/>
            <a:ext cx="2926080" cy="41148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2个拓展引擎(ML+攻击链)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377440"/>
            <a:ext cx="2926080" cy="41148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136条检测规则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880360"/>
            <a:ext cx="2926080" cy="41148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12种协议识别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383280"/>
            <a:ext cx="2926080" cy="41148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7种异常检测器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3863339"/>
            <a:ext cx="2926080" cy="41148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34个开源项目参考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数据流 — 一个数据包的七步处理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645920" cy="8229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PCAP File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48840" y="2057400"/>
            <a:ext cx="182880" cy="36576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77440" y="1828800"/>
            <a:ext cx="1645920" cy="822960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ProtocolParser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2057400"/>
            <a:ext cx="182880" cy="365760"/>
          </a:xfrm>
          <a:prstGeom prst="rightArrow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1645920" cy="82296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MisuseDetector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057400"/>
            <a:ext cx="182880" cy="365760"/>
          </a:xfrm>
          <a:prstGeom prst="rightArrow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1645920" cy="8229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AnomalyDetector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9560" y="2057400"/>
            <a:ext cx="182880" cy="365760"/>
          </a:xfrm>
          <a:prstGeom prst="rightArrow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1645920" cy="82296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AlertManager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829800" y="2057400"/>
            <a:ext cx="182880" cy="365760"/>
          </a:xfrm>
          <a:prstGeom prst="rightArrow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0" y="1828800"/>
            <a:ext cx="1645920" cy="82296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GUI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1: ProtocolParser.parse()      IP/TCP/HTTP解析, 12种协议识别, HTTP深度解析(method/URI/Host/UA)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2: MisuseDetector.match_packet()  AC自动机(115模式)三阶段: 字符串扫描-&gt;正则精匹配-&gt;阈值判定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3: TLSDetector.analyze_client_hello()  JA3/JA4指纹提取 + 恶意指纹库匹配 + 证书异常检测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4: TCPReassembler.feed()          严格seq排序, 重传去重, 乱序缓存, LRU淘汰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5: AnomalyDetector.update()       15维HostStats更新, 每5秒周期检查7种检测器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6: MLAnomalyDetector.predict()     8维特征向量, IsolationForest无监督异常检测, 两阶段精判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Step 7: AlertManager.submit()          去重-&gt;分级(critical/high/medium/low)-&gt;回调推送GUI-&gt;JSON导出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误用检测引擎 — Aho-Corasick 多模式匹配 (成员A)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7AFF"/>
                </a:solidFill>
              </a:defRPr>
            </a:pPr>
            <a:r>
              <a:t>AC自动机 = Trie树 + Failure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将所有136条规则的固定字符串建为一棵前缀树(Trie):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Goto函数:   沿树逐个字符匹配, O(1) per char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Failure函数: 失配时跳转到最长可匹配后缀状态 (KMP思想推广)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Output函数:  继承failure link的输出, 避免遗漏嵌入匹配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复杂度: O(n+m) -- n=载荷长度, m=模式总长度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      与规则数量无关! 一次遍历找出所有命中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Fallback: pyahocorasick未安装时, 自动用re.escape()将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        简单字符串转为正则匹配, 零规则丢弃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7AFF"/>
                </a:solidFill>
              </a:defRPr>
            </a:pPr>
            <a:r>
              <a:t>三阶段匹配流水线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2011680" cy="41148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Stage 1: AC自动机扫描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8288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115个固定字符串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O(n)一次遍历, 95%+流量在此过滤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017520"/>
            <a:ext cx="2011680" cy="41148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Stage 2: 正则精匹配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0175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192个预编译正则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仅对Stage1命中候补执行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206240"/>
            <a:ext cx="2011680" cy="41148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Stage 3: 阈值型规则判定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2062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端口扫描/暴力破解/DDoS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检查累积计数是否达阈值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515600" cy="146304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性能: 136规则 | AC 115模式 + 正则 192模式 | 正常包 468us/pkt (2138 pkts/s) | 攻击包 455us/pkt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准确率: 96% (22/23) | SQLi 80%/XSS 100%/Web 100%/BruteForce 100%/Backdoor 100%/Scan 100%/WebShell 100%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误报率: 0% (自研规则在正常流量中零误报, 仅1条Suricata导入规则在930包中产生16次误报)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特色: 自研Suricata规则导入器 -&gt; 兼容Emerging Threats Open社区30,000+规则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加密流量检测 — JA3/JA4指纹 + C2 Beacon CV检测 (成员B)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7AFF"/>
                </a:solidFill>
              </a:defRPr>
            </a:pPr>
            <a:r>
              <a:t>JA3 = MD5(Version + CipherSuites + Extensions + Curves + Formats)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TLS ClientHello 握手消息中的5个明文字段  -&gt;  MD5  -&gt;  32字符指纹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不同TLS库(OpenSSL/Golang/Mozilla NSS/Cobalt Strike)有不同的参数组合 -&gt; 如同浏览器UA指纹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恶意指纹库: Trickbot(6734f374) | Emotet(51c64c77) | CobaltStrike(72a589da) | Meterpreter(e35df3e0) | C2 Demo(6eeb1f82)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证书异常检测: 自签名(Issuer==Subject) | 过期(notAfter&lt;now) | 弱加密套件(RC4/DES/3DES/NULL等15种) | CN不匹配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2156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F9500"/>
                </a:solidFill>
              </a:defRPr>
            </a:pPr>
            <a:r>
              <a:rPr dirty="0"/>
              <a:t>C2 Beacon </a:t>
            </a:r>
            <a:r>
              <a:rPr dirty="0" err="1"/>
              <a:t>心跳检测</a:t>
            </a:r>
            <a:r>
              <a:rPr dirty="0"/>
              <a:t> (</a:t>
            </a:r>
            <a:r>
              <a:rPr dirty="0" err="1"/>
              <a:t>CV算法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528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 err="1"/>
              <a:t>原理</a:t>
            </a:r>
            <a:r>
              <a:rPr dirty="0"/>
              <a:t>: </a:t>
            </a:r>
            <a:r>
              <a:rPr dirty="0" err="1"/>
              <a:t>变异系数</a:t>
            </a:r>
            <a:r>
              <a:rPr dirty="0"/>
              <a:t> CV = std/mean (</a:t>
            </a:r>
            <a:r>
              <a:rPr dirty="0" err="1"/>
              <a:t>标准差</a:t>
            </a:r>
            <a:r>
              <a:rPr dirty="0"/>
              <a:t>/</a:t>
            </a:r>
            <a:r>
              <a:rPr dirty="0" err="1"/>
              <a:t>均值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 err="1"/>
              <a:t>对每个</a:t>
            </a:r>
            <a:r>
              <a:rPr dirty="0"/>
              <a:t>(</a:t>
            </a:r>
            <a:r>
              <a:rPr dirty="0" err="1"/>
              <a:t>src_ip,dst_ip,dst_port</a:t>
            </a:r>
            <a:r>
              <a:rPr dirty="0"/>
              <a:t>)</a:t>
            </a:r>
            <a:r>
              <a:rPr dirty="0" err="1"/>
              <a:t>三元组</a:t>
            </a:r>
            <a:r>
              <a:rPr dirty="0"/>
              <a:t>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/>
              <a:t>  </a:t>
            </a:r>
            <a:r>
              <a:rPr dirty="0" err="1"/>
              <a:t>记录每次连接时间戳</a:t>
            </a:r>
            <a:r>
              <a:rPr dirty="0"/>
              <a:t> -&gt; </a:t>
            </a:r>
            <a:r>
              <a:rPr dirty="0" err="1"/>
              <a:t>计算时间间隔</a:t>
            </a: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/>
              <a:t>  CV&lt;0.05 -&gt; CRITICAL (</a:t>
            </a:r>
            <a:r>
              <a:rPr dirty="0" err="1"/>
              <a:t>几乎完美定时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/>
              <a:t>  CV&lt;0.15 -&gt; HIGH (</a:t>
            </a:r>
            <a:r>
              <a:rPr dirty="0" err="1"/>
              <a:t>轻微抖动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/>
              <a:t>  CV&lt;0.30 -&gt; MEDIUM (</a:t>
            </a:r>
            <a:r>
              <a:rPr dirty="0" err="1"/>
              <a:t>边界值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/>
              <a:t>  CV&gt;0.30 -&gt; </a:t>
            </a:r>
            <a:r>
              <a:rPr dirty="0" err="1"/>
              <a:t>正常</a:t>
            </a:r>
            <a:r>
              <a:rPr dirty="0"/>
              <a:t>(</a:t>
            </a:r>
            <a:r>
              <a:rPr dirty="0" err="1"/>
              <a:t>人类行为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 err="1"/>
              <a:t>参考</a:t>
            </a:r>
            <a:r>
              <a:rPr dirty="0"/>
              <a:t>: github.com/</a:t>
            </a:r>
            <a:r>
              <a:rPr dirty="0" err="1"/>
              <a:t>Mithileshan</a:t>
            </a:r>
            <a:r>
              <a:rPr dirty="0"/>
              <a:t>/c2-beaconing-detection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rPr dirty="0"/>
              <a:t>       github.com/</a:t>
            </a:r>
            <a:r>
              <a:rPr dirty="0" err="1"/>
              <a:t>thousaba</a:t>
            </a:r>
            <a:r>
              <a:rPr dirty="0"/>
              <a:t>/</a:t>
            </a:r>
            <a:r>
              <a:rPr dirty="0" err="1"/>
              <a:t>beacon_hunter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64592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r>
              <a:t>三层防线: JA3/JA4指纹(握手指纹) + 证书异常(自签名/过期/弱加密) + C2 Beacon CV检测(时间规律)</a:t>
            </a: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r>
              <a:t>核心优势: 完全不需要解密HTTPS载荷 -- 仅凭明文ClientHello参数和连接统计即可发现恶意C2通信</a:t>
            </a: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r>
              <a:t>参考: github.com/salesforce/ja3 | github.com/FoxIO-LLC/ja4 | sslbl.abuse.ch | ja3er.com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异常检测 + ML — 7种检测器 + Isolation Forest (成员C)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F9500"/>
                </a:solidFill>
              </a:defRPr>
            </a:pPr>
            <a:r>
              <a:t>7种异常检测器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端口扫描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6916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30端口SYN -&gt; medium告警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横向扫描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4027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60个不同目标IP -&gt; high告警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SYN Flood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1200个SYN (&gt;80%) -&gt; high告警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39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暴力破解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33755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6次登录失败 -&gt; high告警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高频DDoS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86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50源x300包=15000包 -&gt; critical告警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基线偏离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348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当前指标&gt;基线5倍 -&gt; 告警触发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59"/>
            <a:ext cx="2194560" cy="43891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多源并发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98347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50源IP高频并发 -&gt; DDoS告警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34C759"/>
                </a:solidFill>
              </a:defRPr>
            </a:pPr>
            <a:r>
              <a:t>Isolation Forest + TwoStageDetector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IF原理: 异常数据 '少且不同' -- 随机切几刀就能隔离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8维特征向量: [连接数,SYN数,唯一端口,唯一IP,收发字节,包速率,登录失败]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TwoStageDetector两阶段: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Stage 1: IF粗筛 -&gt; 标记异常主机 (-1=异常)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Stage 2: 三源精判(投票制)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MisuseDetector有告警? -&gt; +1票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BaselineProfile偏离&gt;2sigma? -&gt; +1票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ThreatIntel已知恶意? -&gt; +1票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票数&gt;=2 -&gt; 确认告警 | =1 -&gt; 低优先级 | =0 -&gt; 抑制(误报)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参考: github.com/sarthakghavghave (88.6%误报消减)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  github.com/fatemak04/Anomaly-NIDS (IF+Scapy+基线)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82296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897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稳定性: 10,000包/306k pps/内存+2.9MB | 动态阈值自适应: mu+ksigma, k=3.0, min_samples=10 | 7/7检测器触发验证 | 阈值调优:5档全测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80479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 err="1"/>
              <a:t>攻击链关联</a:t>
            </a:r>
            <a:r>
              <a:rPr dirty="0"/>
              <a:t> + </a:t>
            </a:r>
            <a:r>
              <a:rPr dirty="0" err="1"/>
              <a:t>威胁情报</a:t>
            </a:r>
            <a:r>
              <a:rPr dirty="0"/>
              <a:t> + </a:t>
            </a:r>
            <a:r>
              <a:rPr dirty="0" err="1"/>
              <a:t>降噪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F3B30"/>
                </a:solidFill>
              </a:defRPr>
            </a:pPr>
            <a:r>
              <a:t>MITRE ATT&amp;CK 攻击链关联分析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AttackChainAnalyzer: 同源IP, 30min窗口, 按ATT&amp;CK阶段串联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阶段映射: scan/port_scan-&gt;reconnaissance | sql_injection/xss/web_attack-&gt;exploit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      brute_force/webshell-&gt;initial_access | backdoor/trojan-&gt;persistence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      c2/c2_beacon-&gt;command_control | lateral_scan-&gt;lateral_movement | dos-&gt;impact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判定: &gt;=3个不同阶段 -&gt; 输出attack_chain告警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验证: 4步攻击(scan-&gt;bruteforce-&gt;sqli-&gt;backdoor)正确串联为[侦察-&gt;初始入侵-&gt;利用-&gt;持久化]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AF52DE"/>
                </a:solidFill>
              </a:defRPr>
            </a:pPr>
            <a:r>
              <a:t>威胁情报 + 误报降噪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威胁情报集成: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AbuseIPDB API (免费1000次/天, abuseConfidenceScore)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AlienVault OTX (免费, pulse_count)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本地黑名单(5个恶意IP+5个恶意JA3指纹)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enrich_alert()自动标注 -&gt; 已知恶意IP升级severity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误报自动降噪(三级体系):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1. 上下文过滤(A) -- 攻击特征位置识别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   URL参数-&gt;正常 | Referer/Cookie-&gt;降级 | 白名单IP-&gt;忽略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2. 基线降噪(C) -- 告警指标在mu+-2sigma内-&gt;降级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3. 资产重要性(C) -- config.yaml四级配置</a:t>
            </a:r>
          </a:p>
          <a:p>
            <a:pPr>
              <a:spcAft>
                <a:spcPts val="300"/>
              </a:spcAft>
              <a:defRPr sz="1100" b="0">
                <a:solidFill>
                  <a:srgbClr val="C7C7CC"/>
                </a:solidFill>
              </a:defRPr>
            </a:pPr>
            <a:r>
              <a:t>     critical资产+告警-&gt;升级 | normal资产+告警-&gt;降级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280160"/>
          </a:xfrm>
          <a:prstGeom prst="round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攻击链验证: 4步攻击正确串联 | 威胁情报: enrich_alert() + enrich_alerts() | 降噪: config.yaml四级资产配置(critical/important/normal/whitelist) + mu+-2sigma基线过滤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GUI 仪表盘 — Apple 风格 6-Tab 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2A2A3E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Dashboard 全页截图</a:t>
            </a:r>
            <a:br/>
            <a:br/>
            <a:r>
              <a:t>启动GUI -&gt; 回放demo_hybrid_detection.pcap -&gt; 截图</a:t>
            </a:r>
            <a:br/>
            <a:br/>
            <a:r>
              <a:t>应显示: 6张统计卡片 | PPS/BPS双线折线图 | Recent Alerts表格(含Source列anomaly+misuse) | Top Attack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GUI 攻击链可视化面板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2A2A3E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Attack Chain Tab 截图</a:t>
            </a:r>
            <a:br/>
            <a:br/>
            <a:r>
              <a:t>回放demo_hybrid_detection.pcap -&gt; 切换到Attack Chain -&gt; 点击Refresh</a:t>
            </a:r>
            <a:br/>
            <a:br/>
            <a:r>
              <a:t>应显示: 蓝色源IP节点 -&gt; 黄色(侦察) -&gt; 橙色(利用) -&gt; 红色(C2/持久化)</a:t>
            </a:r>
            <a:br/>
            <a:r>
              <a:t>底部统计: X chains | Y steps | max Z phases | Level: HIGH/CRITICAL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性能数据汇总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737360" cy="146304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96%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七类攻击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总准确率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188720"/>
            <a:ext cx="1737360" cy="146304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3160" y="1234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1.72%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正常流量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误报率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1737360" cy="146304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234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468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单包匹配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平均延迟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1737360" cy="146304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234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306,756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异常检测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PPS吞吐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1737360" cy="146304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234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2,138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误用检测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pkts/sec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188720"/>
            <a:ext cx="1737360" cy="146304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04120" y="1234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8 PCAP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总去重告警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规则覆盖: 136条(自研78+Suricata58) | AC 115模式 + 正则 192模式 | 3步匹配: AC扫描-&gt;正则精匹-&gt;阈值判定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协议识别: 12种协议 | 识别准确率100% (构造包) | TCP重组: 顺序/乱序/重传/重叠 4/4通过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异常检测: 7种检测器全覆盖 | 10,000包稳定性验证 +2.9MB | 动态阈值自适应 mu+-3sigma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ML模型: Isolation Forest (50样本训练) | 8维特征向量 | TwoStageDetector: IF粗筛-&gt;三源精判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学术评估: CIC-IDS-2017 Wednesday: 17,244包-&gt;99告警(DoS50/扫描28/Web21) + 2攻击链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真实流量: Kali-&gt;Windows扫描837包(双引擎互印证) | 正常浏览930包(误报率1.72%, 自研规则零误报)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GUI: 6-Tab Apple风格(亮暗双主题) | 攻击链可视化(QGraphicsView) | 所有操作&lt;200ms | 内存&lt;500MB</a:t>
            </a:r>
          </a:p>
          <a:p>
            <a:pPr>
              <a:spcAft>
                <a:spcPts val="300"/>
              </a:spcAft>
              <a:defRPr sz="1400" b="0">
                <a:solidFill>
                  <a:srgbClr val="C7C7CC"/>
                </a:solidFill>
              </a:defRPr>
            </a:pPr>
            <a:r>
              <a:t>特色: Suricata规则导入 | C2 Beacon CV检测 | TwoStage检测 | 威胁情报 | 攻击链可视化 | 一键演示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混合检测双引擎验证 — 同一次攻击, 双引擎互印证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7AFF"/>
                </a:solidFill>
              </a:defRPr>
            </a:pPr>
            <a:r>
              <a:t>demo_hybrid_detection.pcap (55包, 3秒)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同一来源IP (10.0.7.77) 四阶段攻击: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Phase 1: 端口扫描 -- 26个不同端口的SYN探测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Phase 2: SQL注入 -- 5种变体(UNION SELECT/OR 1=1/DROP TABLE/报错注入/SQLMap UA)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Phase 3: SSH暴力破解 -- 8次登录失败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Phase 4: 后门C2 -- AntSword UA后门连接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检出结果: 13条去重告警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source=anomaly (1条, 橙色):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port_scan -- 异常检测发现26端口偏离基线(阈值20)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异常检测: '我不知道Nmap长什么样 -- 我只看到行为不正常'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source=misuse (12条, 蓝色):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SQLI-001/002/004/008/010/011 -- 误用检测精确匹配8条攻击特征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  误用检测: '我不知道什么算正常 -- 但我认识这些攻击特征'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F9500"/>
                </a:solidFill>
              </a:defRPr>
            </a:pPr>
            <a:r>
              <a:t>真实流量验证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Kali -&gt; Windows 真实扫描: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VirtualBox真实抓包, Kali使用Nmap扫描Windows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837个TCP包, 12种协议识别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双引擎告警: misuse=5 + anomaly=2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攻击链: 1条(侦察阶段)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正常浏览流量误报率评估: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930个真实HTTP请求(网页浏览/API/图片/搜索)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误报: 16条 (1.72%)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全部来自1条Suricata社区规则(SUR-1000302, 'curl')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自研78条规则: 零误报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结论: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1. 双引擎从不同维度同时告警, 互相印证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2. 异常检测发现未知行为模式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3. 误用检测精确定位已知攻击类型</a:t>
            </a:r>
          </a:p>
          <a:p>
            <a:pPr>
              <a:spcAft>
                <a:spcPts val="300"/>
              </a:spcAft>
              <a:defRPr sz="1200" b="0">
                <a:solidFill>
                  <a:srgbClr val="C7C7CC"/>
                </a:solidFill>
              </a:defRPr>
            </a:pPr>
            <a:r>
              <a:t>  4. 混合架构=互补短板, 提升整体检测能力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学术评估 — CIC-IDS-2017 标准数据集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7AFF"/>
                </a:solidFill>
              </a:defRPr>
            </a:pPr>
            <a:r>
              <a:t>CIC-IDS-2017 Wednesday DoS 子集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数据集: 加拿大UNB大学 CIC-IDS-2017 (学术界最常用的IDS评估基准)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子集: Wednesday DoS/DDoS (Slowloris, Slowhttptest, Hulk, GoldenEye)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规模: 17,244个TCP包, 36个唯一IP, 15,262 HTTP + 910 HTTPS + 762 Unknown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NADS检出结果: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DoS/高频流量: 50条 (Slowloris不完全头 + HTTP Flood + Range攻击)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扫描探测:     28条 (端口扫描 + 横向扫描)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Web攻击:      21条 (RCE Netcat + PHP代码执行 + 文件包含)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  总计: 99条去重告警 + 2条攻击链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检测类型: dos(50), scan(28), web_attack(21)</a:t>
            </a:r>
          </a:p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告警严重度: critical(37), high(45), medium(17)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645920"/>
            <a:ext cx="3931920" cy="2286000"/>
          </a:xfrm>
          <a:prstGeom prst="rect">
            <a:avLst/>
          </a:prstGeom>
          <a:solidFill>
            <a:srgbClr val="2A2A3E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Statistics页截图</a:t>
            </a:r>
            <a:br/>
            <a:r>
              <a:t>(回放wednesday_subset后</a:t>
            </a:r>
            <a:br/>
            <a:r>
              <a:t>饼图+柱状图)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34C759"/>
                </a:solidFill>
              </a:defRPr>
            </a:pPr>
            <a:r>
              <a:t>正常流量误报率评估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C7C7CC"/>
                </a:solidFill>
              </a:defRPr>
            </a:pPr>
            <a:r>
              <a:t>normal_real_browsing.pcap: 930个真实网页浏览HTTP请求 -&gt; 16条误报(1.72%), 全部来自1条Suricata社区规则(curl), 自研78条规则零误报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开源项目调研 — 34个项目参考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" cy="3657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ThreatWire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AC+1200规则+Suricata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20040" cy="3657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NetGuard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10-Tab GUI+ML+威胁地图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320040" cy="3657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Slips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行为ML+威胁情报+Zeek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39"/>
            <a:ext cx="320040" cy="3657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sarthakghavghave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93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IF+RF两阶段88.6%降噪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20040" cy="36576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NetPortMon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PyQt5实时图表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320040" cy="3657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fatemak04/Anomaly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731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实时IF+Scapy+基线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79"/>
            <a:ext cx="320040" cy="36576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12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salesforce/ja3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132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JA3标准实现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852159"/>
            <a:ext cx="320040" cy="36576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521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FoxIO/ja4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5332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JA4新一代指纹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371600"/>
            <a:ext cx="320040" cy="36576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c2-beacon-detection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5727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CV变异系数C2检测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011680"/>
            <a:ext cx="320040" cy="36576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011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beacon_hunter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212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PCAP C2 Beacon检测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651760"/>
            <a:ext cx="320040" cy="3657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surinort-ast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852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Suricata规则AST解析器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291839"/>
            <a:ext cx="320040" cy="3657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2918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SigmaForge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493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YARA&lt;-&gt;Sigma&lt;-&gt;Suricata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931920"/>
            <a:ext cx="320040" cy="3657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soc-intelhub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13308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VT+IPDB+OTX+MITRE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72000"/>
            <a:ext cx="320040" cy="36576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threat-intel-agg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7731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威胁情报聚合+热力图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212079"/>
            <a:ext cx="320040" cy="36576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5212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Deadfall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4132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BloodHound风格PCAP可视化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852159"/>
            <a:ext cx="320040" cy="365760"/>
          </a:xfrm>
          <a:prstGeom prst="roundRect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8521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temporal-ids-bench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605332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6868B"/>
                </a:solidFill>
              </a:defRPr>
            </a:pPr>
            <a:r>
              <a:t>CIC-IDS2017标准评估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6868B"/>
                </a:solidFill>
              </a:defRPr>
            </a:pPr>
            <a:r>
              <a:t>+18 more projects (详见 docs/特色拓展方向与开源参考.md)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六大特色创新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728491" cy="1394307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t>1 Suricata规则导入器 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自研规则转换工具, 兼容Emerging Threats Open社区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规则数: 78 -&gt; 136 -&gt; 可扩展至30,000+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基于 surinort-ast + SigmaForge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097280"/>
            <a:ext cx="4398121" cy="1480223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t>2 C2 Beaconing心跳检测 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77492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CV变异系数检测C2通信规律, 不解密TLS即可发现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CV&lt;0.05-&gt;critical, CV&lt;0.15-&gt;high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t>参考: c2-beaconing-detection + beacon_hunter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18652"/>
            <a:ext cx="4728491" cy="1394306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3691" y="27659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3 </a:t>
            </a:r>
            <a:r>
              <a:rPr dirty="0" err="1"/>
              <a:t>IF+规则两阶段检测</a:t>
            </a:r>
            <a:r>
              <a:rPr dirty="0"/>
              <a:t> (C)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691" y="3131820"/>
            <a:ext cx="36453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IF粗筛</a:t>
            </a:r>
            <a:r>
              <a:rPr dirty="0"/>
              <a:t> -&gt; </a:t>
            </a:r>
            <a:r>
              <a:rPr dirty="0" err="1"/>
              <a:t>三源精判</a:t>
            </a:r>
            <a:r>
              <a:rPr dirty="0"/>
              <a:t>(</a:t>
            </a:r>
            <a:r>
              <a:rPr dirty="0" err="1"/>
              <a:t>检测+基线+情报投票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参考</a:t>
            </a:r>
            <a:r>
              <a:rPr dirty="0"/>
              <a:t> 88.6%误报消减方案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TwoStageDetector</a:t>
            </a:r>
            <a:r>
              <a:rPr dirty="0"/>
              <a:t>: IF + </a:t>
            </a:r>
            <a:r>
              <a:rPr dirty="0" err="1"/>
              <a:t>RF完整实现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096000" y="2765907"/>
            <a:ext cx="4367641" cy="1347051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4411" y="28914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4 </a:t>
            </a:r>
            <a:r>
              <a:rPr dirty="0" err="1"/>
              <a:t>威胁情报集成</a:t>
            </a:r>
            <a:r>
              <a:rPr dirty="0"/>
              <a:t> (C+D)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411" y="3222801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AbuseIPDB</a:t>
            </a:r>
            <a:r>
              <a:rPr dirty="0"/>
              <a:t> + AlienVault OTX + </a:t>
            </a:r>
            <a:r>
              <a:rPr dirty="0" err="1"/>
              <a:t>本地黑名单</a:t>
            </a: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5个恶意IP + 5个恶意JA3指纹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enrich_alert</a:t>
            </a:r>
            <a:r>
              <a:rPr dirty="0"/>
              <a:t>()</a:t>
            </a:r>
            <a:r>
              <a:rPr dirty="0" err="1"/>
              <a:t>自动标注</a:t>
            </a:r>
            <a:r>
              <a:rPr dirty="0"/>
              <a:t> -&gt; </a:t>
            </a:r>
            <a:r>
              <a:rPr dirty="0" err="1"/>
              <a:t>升级已知恶意IP告警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514070" y="4340023"/>
            <a:ext cx="4671621" cy="1668626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72606" y="45034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5 </a:t>
            </a:r>
            <a:r>
              <a:rPr dirty="0" err="1"/>
              <a:t>攻击链可视化面板</a:t>
            </a:r>
            <a:r>
              <a:rPr dirty="0"/>
              <a:t> (D)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" y="4986857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QGraphicsView</a:t>
            </a:r>
            <a:r>
              <a:rPr dirty="0"/>
              <a:t> </a:t>
            </a:r>
            <a:r>
              <a:rPr dirty="0" err="1"/>
              <a:t>节点-边有向图</a:t>
            </a:r>
            <a:r>
              <a:rPr dirty="0"/>
              <a:t>, MITRE </a:t>
            </a:r>
            <a:r>
              <a:rPr dirty="0" err="1"/>
              <a:t>ATT&amp;CK颜色标记</a:t>
            </a: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黄=</a:t>
            </a:r>
            <a:r>
              <a:rPr dirty="0" err="1"/>
              <a:t>侦察</a:t>
            </a:r>
            <a:r>
              <a:rPr dirty="0"/>
              <a:t> -&gt; 橙=</a:t>
            </a:r>
            <a:r>
              <a:rPr dirty="0" err="1"/>
              <a:t>利用</a:t>
            </a:r>
            <a:r>
              <a:rPr dirty="0"/>
              <a:t> -&gt; 红=C2/</a:t>
            </a:r>
            <a:r>
              <a:rPr dirty="0" err="1"/>
              <a:t>持久化</a:t>
            </a: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同一IP多步攻击自动串联</a:t>
            </a:r>
            <a:r>
              <a:rPr dirty="0"/>
              <a:t> -&gt; </a:t>
            </a:r>
            <a:r>
              <a:rPr dirty="0" err="1"/>
              <a:t>威胁等级判定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096000" y="4361991"/>
            <a:ext cx="4398121" cy="1646658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6582" y="442686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t>6 一键全自动演示模式 (D)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582" y="4932109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Demo模式</a:t>
            </a:r>
            <a:r>
              <a:rPr dirty="0"/>
              <a:t>: 9类攻击载荷(47个) + 50%正常流量混合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TrafficGenerator实时生成</a:t>
            </a:r>
            <a:r>
              <a:rPr dirty="0"/>
              <a:t>, </a:t>
            </a:r>
            <a:r>
              <a:rPr dirty="0" err="1"/>
              <a:t>无需PCAP文件</a:t>
            </a: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</a:defRPr>
            </a:pPr>
            <a:r>
              <a:rPr dirty="0" err="1"/>
              <a:t>大字幕+Toast通知+统计摘要弹窗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6800" b="1">
                <a:solidFill>
                  <a:srgbClr val="007A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3400" b="0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86868B"/>
                </a:solidFill>
              </a:defRPr>
            </a:pPr>
            <a:r>
              <a:t>NADS -- 基于混合检测架构的常见网络攻击检测系统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C7C7CC"/>
                </a:solidFill>
              </a:defRPr>
            </a:pPr>
            <a:r>
              <a:t>误用检测 96%准确率 + 异常检测 7种检测器 + ML无监督学习 + 加密流量三层防线</a:t>
            </a:r>
          </a:p>
          <a:p>
            <a:pPr>
              <a:spcAft>
                <a:spcPts val="300"/>
              </a:spcAft>
              <a:defRPr sz="1600" b="0">
                <a:solidFill>
                  <a:srgbClr val="C7C7CC"/>
                </a:solidFill>
              </a:defRPr>
            </a:pPr>
            <a:r>
              <a:t>攻击链关联 + 威胁情报 + Apple风格6-Tab GUI + 真实流量双引擎验证</a:t>
            </a:r>
          </a:p>
          <a:p>
            <a:pPr>
              <a:spcAft>
                <a:spcPts val="300"/>
              </a:spcAft>
              <a:defRPr sz="1600" b="0">
                <a:solidFill>
                  <a:srgbClr val="C7C7CC"/>
                </a:solidFill>
              </a:defRPr>
            </a:pPr>
            <a:r>
              <a:t>~15,000行代码 | 34个开源项目参考 | 6大特色创新 | CIC-IDS-2017学术评估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2494</Words>
  <Application>Microsoft Office PowerPoint</Application>
  <PresentationFormat>宽屏</PresentationFormat>
  <Paragraphs>331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超 金</cp:lastModifiedBy>
  <cp:revision>4</cp:revision>
  <dcterms:created xsi:type="dcterms:W3CDTF">2013-01-27T09:14:16Z</dcterms:created>
  <dcterms:modified xsi:type="dcterms:W3CDTF">2026-07-22T03:40:13Z</dcterms:modified>
  <cp:category/>
</cp:coreProperties>
</file>